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00" userDrawn="1">
          <p15:clr>
            <a:srgbClr val="A4A3A4"/>
          </p15:clr>
        </p15:guide>
        <p15:guide id="2" pos="21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 showGuides="1">
      <p:cViewPr>
        <p:scale>
          <a:sx n="140" d="100"/>
          <a:sy n="140" d="100"/>
        </p:scale>
        <p:origin x="739" y="-1483"/>
      </p:cViewPr>
      <p:guideLst>
        <p:guide orient="horz" pos="3100"/>
        <p:guide pos="21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735" y="1143000"/>
            <a:ext cx="213653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/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1979" y="2356347"/>
          <a:ext cx="3871459" cy="229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1459"/>
              </a:tblGrid>
              <a:tr h="27836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thiệu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1357760">
                <a:tc>
                  <a:txBody>
                    <a:bodyPr/>
                    <a:lstStyle/>
                    <a:p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ề tài x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 dựng hệ thống cảnh b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buồn ngủ khi l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xe kết hợp công nghệ Blockchain nhằm n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 cao an toàn giao thông và 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ảm bảo t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í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 minh bạch của dữ liệu cảnh b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o.</a:t>
                      </a:r>
                      <a:endParaRPr lang="en-US" alt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 thống cho phép:</a:t>
                      </a: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hiện trạng th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buồn ngủ của tài xế</a:t>
                      </a:r>
                      <a:endParaRPr lang="en-US" alt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Cảnh b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khi ph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hiện nguy hiểm</a:t>
                      </a: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 thông tin cảnh b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l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ê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 Blockchain</a:t>
                      </a:r>
                      <a:endParaRPr lang="en-US" alt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 cứu và kiểm chứng dữ liệu cảnh b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en-US" altLang="en-GB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indent="0">
                        <a:buFont typeface="Arial" panose="020B0604020202020204" pitchFamily="34" charset="0"/>
                        <a:buNone/>
                      </a:pPr>
                      <a:r>
                        <a:rPr lang="vi-VN" sz="9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MỤC TIÊU ĐỀ TÀI</a:t>
                      </a:r>
                      <a:endParaRPr lang="vi-VN" sz="9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 dựng hệ thống ph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 hiện buồn ngủ khi l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xe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 dụng Blockchain 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ể l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ư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 trữ dữ liệu</a:t>
                      </a: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Thiết kế giao diện trực quan, dễ sử dụng</a:t>
                      </a: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Hỗ trợ n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 cao an toàn giao thông và khả n</a:t>
                      </a:r>
                      <a:r>
                        <a:rPr lang="en-US" alt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ă</a:t>
                      </a:r>
                      <a:r>
                        <a:rPr lang="en-US" altLang="en-GB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 truy xuất dữ liệu</a:t>
                      </a:r>
                      <a:endParaRPr lang="vi-VN" altLang="en-US" sz="9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/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trúc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0" name="Group 69"/>
          <p:cNvGrpSpPr/>
          <p:nvPr/>
        </p:nvGrpSpPr>
        <p:grpSpPr>
          <a:xfrm>
            <a:off x="4445" y="-30976"/>
            <a:ext cx="6858000" cy="2289646"/>
            <a:chOff x="0" y="-40063"/>
            <a:chExt cx="6858000" cy="2289646"/>
          </a:xfrm>
        </p:grpSpPr>
        <p:grpSp>
          <p:nvGrpSpPr>
            <p:cNvPr id="27" name="Group 26"/>
            <p:cNvGrpSpPr/>
            <p:nvPr/>
          </p:nvGrpSpPr>
          <p:grpSpPr>
            <a:xfrm>
              <a:off x="0" y="-40063"/>
              <a:ext cx="6858000" cy="1033780"/>
              <a:chOff x="0" y="-40063"/>
              <a:chExt cx="6858000" cy="1033780"/>
            </a:xfrm>
          </p:grpSpPr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-1328"/>
                <a:ext cx="6858000" cy="995045"/>
              </a:xfrm>
              <a:prstGeom prst="rect">
                <a:avLst/>
              </a:prstGeom>
            </p:spPr>
          </p:pic>
          <p:sp>
            <p:nvSpPr>
              <p:cNvPr id="40" name="TextBox 39"/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  <a:endParaRPr lang="en-US" sz="1000" b="1">
                  <a:solidFill>
                    <a:schemeClr val="bg1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  <a:endParaRPr lang="en-US" sz="1000" b="1">
                  <a:solidFill>
                    <a:schemeClr val="bg1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0" y="1067338"/>
              <a:ext cx="6765925" cy="1182245"/>
              <a:chOff x="0" y="1067338"/>
              <a:chExt cx="6765925" cy="1182245"/>
            </a:xfrm>
          </p:grpSpPr>
          <p:sp>
            <p:nvSpPr>
              <p:cNvPr id="5" name="Title 1"/>
              <p:cNvSpPr txBox="1"/>
              <p:nvPr/>
            </p:nvSpPr>
            <p:spPr>
              <a:xfrm>
                <a:off x="0" y="1067338"/>
                <a:ext cx="6765925" cy="248285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</a:t>
                </a:r>
                <a:r>
                  <a:rPr lang="en-US" altLang="en-GB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Hệ thống cảnh b</a:t>
                </a:r>
                <a:r>
                  <a:rPr lang="en-US" alt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á</a:t>
                </a:r>
                <a:r>
                  <a:rPr lang="en-US" altLang="en-GB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o buồn ngủ khi l</a:t>
                </a:r>
                <a:r>
                  <a:rPr lang="en-US" alt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á</a:t>
                </a:r>
                <a:r>
                  <a:rPr lang="en-US" altLang="en-GB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i xe</a:t>
                </a:r>
                <a:endParaRPr lang="en-US" altLang="en-GB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  <a:p>
                <a:r>
                  <a:rPr lang="en-US" altLang="en-GB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kết hợp Blockchain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63" name="Picture 6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/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68579" y="4557754"/>
          <a:ext cx="3811821" cy="5334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1821"/>
              </a:tblGrid>
              <a:tr h="23652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509055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/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  <a:endParaRPr lang="en-US" sz="10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027805" y="8068310"/>
          <a:ext cx="2789555" cy="1555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555"/>
              </a:tblGrid>
              <a:tr h="26606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128905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000" dirty="0"/>
                        <a:t>N</a:t>
                      </a:r>
                      <a:r>
                        <a:rPr lang="en-US" altLang="en-US" sz="1000" dirty="0"/>
                        <a:t>â</a:t>
                      </a:r>
                      <a:r>
                        <a:rPr lang="en-US" altLang="en-GB" sz="1000" dirty="0"/>
                        <a:t>ng cao </a:t>
                      </a:r>
                      <a:r>
                        <a:rPr lang="en-US" altLang="en-US" sz="1000" dirty="0"/>
                        <a:t>đ</a:t>
                      </a:r>
                      <a:r>
                        <a:rPr lang="en-US" altLang="en-GB" sz="1000" dirty="0"/>
                        <a:t>ộ ch</a:t>
                      </a:r>
                      <a:r>
                        <a:rPr lang="en-US" altLang="en-US" sz="1000" dirty="0"/>
                        <a:t>í</a:t>
                      </a:r>
                      <a:r>
                        <a:rPr lang="en-US" altLang="en-GB" sz="1000" dirty="0"/>
                        <a:t>nh x</a:t>
                      </a:r>
                      <a:r>
                        <a:rPr lang="en-US" altLang="en-US" sz="1000" dirty="0"/>
                        <a:t>á</a:t>
                      </a:r>
                      <a:r>
                        <a:rPr lang="en-US" altLang="en-GB" sz="1000" dirty="0"/>
                        <a:t>c của mô h</a:t>
                      </a:r>
                      <a:r>
                        <a:rPr lang="en-US" altLang="en-US" sz="1000" dirty="0"/>
                        <a:t>ì</a:t>
                      </a:r>
                      <a:r>
                        <a:rPr lang="en-US" altLang="en-GB" sz="1000" dirty="0"/>
                        <a:t>nh AI</a:t>
                      </a:r>
                      <a:endParaRPr lang="en-US" altLang="en-GB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000" dirty="0"/>
                        <a:t>Ph</a:t>
                      </a:r>
                      <a:r>
                        <a:rPr lang="en-US" altLang="en-US" sz="1000" dirty="0"/>
                        <a:t>á</a:t>
                      </a:r>
                      <a:r>
                        <a:rPr lang="en-US" altLang="en-GB" sz="1000" dirty="0"/>
                        <a:t>t hiện th</a:t>
                      </a:r>
                      <a:r>
                        <a:rPr lang="en-US" altLang="en-US" sz="1000" dirty="0"/>
                        <a:t>ê</a:t>
                      </a:r>
                      <a:r>
                        <a:rPr lang="en-US" altLang="en-GB" sz="1000" dirty="0"/>
                        <a:t>m c</a:t>
                      </a:r>
                      <a:r>
                        <a:rPr lang="en-US" altLang="en-US" sz="1000" dirty="0"/>
                        <a:t>á</a:t>
                      </a:r>
                      <a:r>
                        <a:rPr lang="en-US" altLang="en-GB" sz="1000" dirty="0"/>
                        <a:t>c hành vi nguy hiểm khi l</a:t>
                      </a:r>
                      <a:r>
                        <a:rPr lang="en-US" altLang="en-US" sz="1000" dirty="0"/>
                        <a:t>á</a:t>
                      </a:r>
                      <a:r>
                        <a:rPr lang="en-US" altLang="en-GB" sz="1000" dirty="0"/>
                        <a:t>i xe</a:t>
                      </a:r>
                      <a:r>
                        <a:rPr lang="vi-VN" sz="1000" dirty="0"/>
                        <a:t> </a:t>
                      </a:r>
                      <a:endParaRPr lang="vi-VN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000" dirty="0"/>
                        <a:t>Triển khai tr</a:t>
                      </a:r>
                      <a:r>
                        <a:rPr lang="en-US" altLang="en-US" sz="1000" dirty="0"/>
                        <a:t>ê</a:t>
                      </a:r>
                      <a:r>
                        <a:rPr lang="en-US" altLang="en-GB" sz="1000" dirty="0"/>
                        <a:t>n thiết bị nh</a:t>
                      </a:r>
                      <a:r>
                        <a:rPr lang="en-US" altLang="en-US" sz="1000" dirty="0"/>
                        <a:t>ú</a:t>
                      </a:r>
                      <a:r>
                        <a:rPr lang="en-US" altLang="en-GB" sz="1000" dirty="0"/>
                        <a:t>ng và hệ thố</a:t>
                      </a:r>
                      <a:r>
                        <a:rPr lang="vi-VN" altLang="en-US" sz="1000" dirty="0"/>
                        <a:t>n</a:t>
                      </a:r>
                      <a:r>
                        <a:rPr lang="en-US" altLang="en-GB" sz="1000" dirty="0"/>
                        <a:t>g IoT</a:t>
                      </a:r>
                      <a:endParaRPr lang="en-US" altLang="en-GB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000" dirty="0"/>
                        <a:t>Mở rộng l</a:t>
                      </a:r>
                      <a:r>
                        <a:rPr lang="en-US" altLang="en-US" sz="1000" dirty="0"/>
                        <a:t>ư</a:t>
                      </a:r>
                      <a:r>
                        <a:rPr lang="en-US" altLang="en-GB" sz="1000" dirty="0"/>
                        <a:t>u trữ dữ liệu tr</a:t>
                      </a:r>
                      <a:r>
                        <a:rPr lang="en-US" altLang="en-US" sz="1000" dirty="0"/>
                        <a:t>ê</a:t>
                      </a:r>
                      <a:r>
                        <a:rPr lang="en-US" altLang="en-GB" sz="1000" dirty="0"/>
                        <a:t>n Blockchain</a:t>
                      </a:r>
                      <a:r>
                        <a:rPr lang="vi-VN" sz="1000" dirty="0"/>
                        <a:t> </a:t>
                      </a:r>
                      <a:endParaRPr lang="vi-VN" sz="1000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GB" sz="1000" dirty="0"/>
                        <a:t>T</a:t>
                      </a:r>
                      <a:r>
                        <a:rPr lang="en-US" altLang="en-US" sz="1000" dirty="0"/>
                        <a:t>ă</a:t>
                      </a:r>
                      <a:r>
                        <a:rPr lang="en-US" altLang="en-GB" sz="1000" dirty="0"/>
                        <a:t>ng khả n</a:t>
                      </a:r>
                      <a:r>
                        <a:rPr lang="en-US" altLang="en-US" sz="1000" dirty="0"/>
                        <a:t>ă</a:t>
                      </a:r>
                      <a:r>
                        <a:rPr lang="en-US" altLang="en-GB" sz="1000" dirty="0"/>
                        <a:t>ng truy xuất và x</a:t>
                      </a:r>
                      <a:r>
                        <a:rPr lang="en-US" altLang="en-US" sz="1000" dirty="0"/>
                        <a:t>á</a:t>
                      </a:r>
                      <a:r>
                        <a:rPr lang="en-US" altLang="en-GB" sz="1000" dirty="0"/>
                        <a:t>c thực dữ liệu cảnh b</a:t>
                      </a:r>
                      <a:r>
                        <a:rPr lang="en-US" altLang="en-US" sz="1000" dirty="0"/>
                        <a:t>á</a:t>
                      </a:r>
                      <a:r>
                        <a:rPr lang="en-US" altLang="en-GB" sz="1000" dirty="0"/>
                        <a:t>o</a:t>
                      </a:r>
                      <a:endParaRPr lang="en-US" altLang="en-GB" sz="1000" dirty="0"/>
                    </a:p>
                    <a:p>
                      <a:endParaRPr lang="vi-V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  <a:endParaRPr lang="en-US" sz="750" dirty="0">
              <a:latin typeface="Arial" panose="020B0604020202020204" pitchFamily="34" charset="0"/>
              <a:cs typeface="Arial Hebrew Scholar"/>
            </a:endParaRPr>
          </a:p>
        </p:txBody>
      </p:sp>
      <p:grpSp>
        <p:nvGrpSpPr>
          <p:cNvPr id="1024" name="Group 1023"/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/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/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/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/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87" y="4867556"/>
            <a:ext cx="2802343" cy="172895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9230" y="2643505"/>
            <a:ext cx="2817495" cy="19958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5985" y="1330325"/>
            <a:ext cx="607060" cy="629920"/>
          </a:xfrm>
          <a:prstGeom prst="rect">
            <a:avLst/>
          </a:prstGeom>
        </p:spPr>
      </p:pic>
      <p:pic>
        <p:nvPicPr>
          <p:cNvPr id="10" name="Picture 9" descr="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" y="4805045"/>
            <a:ext cx="1891030" cy="1573530"/>
          </a:xfrm>
          <a:prstGeom prst="rect">
            <a:avLst/>
          </a:prstGeom>
        </p:spPr>
      </p:pic>
      <p:pic>
        <p:nvPicPr>
          <p:cNvPr id="12" name="Picture 11" descr="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4060" y="4805045"/>
            <a:ext cx="1876425" cy="1574165"/>
          </a:xfrm>
          <a:prstGeom prst="rect">
            <a:avLst/>
          </a:prstGeom>
        </p:spPr>
      </p:pic>
      <p:pic>
        <p:nvPicPr>
          <p:cNvPr id="13" name="Picture 12" descr="a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" y="6410325"/>
            <a:ext cx="1891030" cy="1581150"/>
          </a:xfrm>
          <a:prstGeom prst="rect">
            <a:avLst/>
          </a:prstGeom>
        </p:spPr>
      </p:pic>
      <p:pic>
        <p:nvPicPr>
          <p:cNvPr id="14" name="Picture 13" descr="k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4060" y="6416675"/>
            <a:ext cx="1876425" cy="1559560"/>
          </a:xfrm>
          <a:prstGeom prst="rect">
            <a:avLst/>
          </a:prstGeom>
        </p:spPr>
      </p:pic>
      <p:pic>
        <p:nvPicPr>
          <p:cNvPr id="15" name="Picture 14" descr="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55" y="7991475"/>
            <a:ext cx="1235075" cy="183261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6830" y="8105140"/>
            <a:ext cx="2573655" cy="171894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835" y="6865620"/>
            <a:ext cx="696595" cy="72199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27170" y="4923790"/>
            <a:ext cx="2789555" cy="16694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41275" y="1380101"/>
            <a:ext cx="6858000" cy="1455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vi-VN" altLang="en-US" sz="800" b="1" dirty="0"/>
              <a:t>Lê Hải Đăng</a:t>
            </a:r>
            <a:r>
              <a:rPr lang="en-US" sz="800" b="1" dirty="0"/>
              <a:t> </a:t>
            </a:r>
            <a:endParaRPr lang="en-US" sz="800" b="1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19*122"/>
  <p:tag name="TABLE_ENDDRAG_RECT" val="317*635*219*122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1057</Words>
  <Application>WPS Presentation</Application>
  <PresentationFormat>A4 Paper (210x297 mm)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Arial Hebrew Scholar</vt:lpstr>
      <vt:lpstr>Arial Hebrew Scholar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Admin</cp:lastModifiedBy>
  <cp:revision>104</cp:revision>
  <dcterms:created xsi:type="dcterms:W3CDTF">2023-07-02T07:57:00Z</dcterms:created>
  <dcterms:modified xsi:type="dcterms:W3CDTF">2026-05-31T14:24:15Z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66A1236D25884C199338A595D49B7390_13</vt:lpwstr>
  </property>
  <property fmtid="{D5CDD505-2E9C-101B-9397-08002B2CF9AE}" pid="3" name="KSOProductBuildVer">
    <vt:lpwstr>2057-12.2.0.21936</vt:lpwstr>
  </property>
</Properties>
</file>